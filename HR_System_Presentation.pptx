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F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8EEA7"/>
          </a:solidFill>
          <a:ln w="12700">
            <a:solidFill>
              <a:srgbClr val="28EEA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7315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Management System</a:t>
            </a:r>
            <a:endParaRPr lang="en-US" sz="4600" dirty="0"/>
          </a:p>
        </p:txBody>
      </p:sp>
      <p:sp>
        <p:nvSpPr>
          <p:cNvPr id="5" name="Shape 2"/>
          <p:cNvSpPr/>
          <p:nvPr/>
        </p:nvSpPr>
        <p:spPr>
          <a:xfrm>
            <a:off x="3200400" y="3337560"/>
            <a:ext cx="2743200" cy="54864"/>
          </a:xfrm>
          <a:prstGeom prst="rect">
            <a:avLst/>
          </a:prstGeom>
          <a:solidFill>
            <a:srgbClr val="28EEA7"/>
          </a:solidFill>
          <a:ln w="12700">
            <a:solidFill>
              <a:srgbClr val="28EEA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8E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HR Platform with Laravel &amp; React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2F5A"/>
          </a:solidFill>
          <a:ln w="12700">
            <a:solidFill>
              <a:srgbClr val="14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28EEA7"/>
          </a:solidFill>
          <a:ln w="12700">
            <a:solidFill>
              <a:srgbClr val="28EE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HR System?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138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881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00584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Human Resource Management and Onboarding platform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755648"/>
            <a:ext cx="8138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37944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1755648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React (frontend) and Laravel (backend)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2505456"/>
            <a:ext cx="8138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87752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250545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Streamlines core HR processes for organizations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57200" y="3255264"/>
            <a:ext cx="8138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337560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3255264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teams of varying sizes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457200" y="4005072"/>
            <a:ext cx="8138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087368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97280" y="4005072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AI-ready architecture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2F5A"/>
          </a:solidFill>
          <a:ln w="12700">
            <a:solidFill>
              <a:srgbClr val="14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28EEA7"/>
          </a:solidFill>
          <a:ln w="12700">
            <a:solidFill>
              <a:srgbClr val="28EE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3931920" cy="457200"/>
          </a:xfrm>
          <a:prstGeom prst="rect">
            <a:avLst/>
          </a:prstGeom>
          <a:solidFill>
            <a:srgbClr val="142F5A"/>
          </a:solidFill>
          <a:ln w="12700">
            <a:solidFill>
              <a:srgbClr val="142F5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69264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914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146304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Laravel 12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PHP ^8.2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Authentication: JWT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MySQL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PHPUnit, Mockery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Style: Laravel Pint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46320" y="91440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914400"/>
            <a:ext cx="3931920" cy="457200"/>
          </a:xfrm>
          <a:prstGeom prst="rect">
            <a:avLst/>
          </a:prstGeom>
          <a:solidFill>
            <a:srgbClr val="1AB87D"/>
          </a:solidFill>
          <a:ln w="12700">
            <a:solidFill>
              <a:srgbClr val="1AB87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969264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914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029200" y="146304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React 19.0.0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Tool: Vite 6.2.0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Routing: react-router-dom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Client: Axios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Library: Material-UI (MUI)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Charts: Chart.js + react-chartjs-2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Icons: Iconify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Notifications: react-toastify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2F5A"/>
          </a:solidFill>
          <a:ln w="12700">
            <a:solidFill>
              <a:srgbClr val="14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28EEA7"/>
          </a:solidFill>
          <a:ln w="12700">
            <a:solidFill>
              <a:srgbClr val="28EE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— Core Modules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87552"/>
            <a:ext cx="54864" cy="1051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6187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0789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51560" y="142646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operations for employee profiles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65760" y="2221992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2221992"/>
            <a:ext cx="54864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49631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231343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Tracking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051560" y="266090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in/out with geolocation verification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65760" y="3456432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3456432"/>
            <a:ext cx="54864" cy="10515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730752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35478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Management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051560" y="389534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leave types: annual, sick, casual, PTO, unpaid, maternity, paternity, bereavement, other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754880" y="987552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987552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261872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40680" y="10789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Integration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440680" y="142646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salary, deductions, and tax calculations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754880" y="2221992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754880" y="2221992"/>
            <a:ext cx="54864" cy="10515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2496312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40680" y="231343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Management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5440680" y="266090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appraisals, feedback, and goal tracking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2F5A"/>
          </a:solidFill>
          <a:ln w="12700">
            <a:solidFill>
              <a:srgbClr val="14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28EEA7"/>
          </a:solidFill>
          <a:ln w="12700">
            <a:solidFill>
              <a:srgbClr val="28EE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— Advanced Modules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87552"/>
            <a:ext cx="54864" cy="1097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6187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0789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&amp; Onboarding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44475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tracking with CV upload, onboarding checklists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54880" y="987552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987552"/>
            <a:ext cx="54864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26187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0789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Development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40680" y="144475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catalog, enrollments, certificate eligibility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65760" y="2313432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2313432"/>
            <a:ext cx="54864" cy="1097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587752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24048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Management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51560" y="277063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plans, insurance, retirement options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754880" y="2313432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2313432"/>
            <a:ext cx="54864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587752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40680" y="24048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Management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40680" y="277063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repository for contracts and certifications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365760" y="3639312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65760" y="3639312"/>
            <a:ext cx="54864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913632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51560" y="37307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Assignment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051560" y="409651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task management for HR projects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4754880" y="3639312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754880" y="3639312"/>
            <a:ext cx="54864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913632"/>
            <a:ext cx="411480" cy="4114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40680" y="37307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Analytics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440680" y="409651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KPIs and HR metrics visualization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2F5A"/>
          </a:solidFill>
          <a:ln w="12700">
            <a:solidFill>
              <a:srgbClr val="14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28EEA7"/>
          </a:solidFill>
          <a:ln w="12700">
            <a:solidFill>
              <a:srgbClr val="28EE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Module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126480" y="960120"/>
            <a:ext cx="2560320" cy="3931920"/>
          </a:xfrm>
          <a:prstGeom prst="rect">
            <a:avLst/>
          </a:prstGeom>
          <a:solidFill>
            <a:srgbClr val="142F5A"/>
          </a:solidFill>
          <a:ln w="12700">
            <a:solidFill>
              <a:srgbClr val="142F5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737360"/>
            <a:ext cx="1645920" cy="1645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17920" y="3931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8E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960120"/>
            <a:ext cx="53949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Geolocation-based clock in/out using Haversine formula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geofence radius (default 100m)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hours: 08:00 – 17:00 (configurable)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check-in support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request hub with 9 leave types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Half-day leave support with medical document upload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Sick leave reporting for admins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 for out-of-radius attendance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2F5A"/>
          </a:solidFill>
          <a:ln w="12700">
            <a:solidFill>
              <a:srgbClr val="14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28EEA7"/>
          </a:solidFill>
          <a:ln w="12700">
            <a:solidFill>
              <a:srgbClr val="28EE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Module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− Insurance − Tax − Leave Deductions + Overtime + Bonus + Allowances − Deductions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payroll generation by month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hours with configurable rate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cost tracking and history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rate management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workflow: Draft → Processed → Paid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net calculation preview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2103120"/>
            <a:ext cx="2194560" cy="5486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0" y="265176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2651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2926080"/>
            <a:ext cx="21945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0" y="347472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3474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3749040"/>
            <a:ext cx="219456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3749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2F5A"/>
          </a:solidFill>
          <a:ln w="12700">
            <a:solidFill>
              <a:srgbClr val="14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28EEA7"/>
          </a:solidFill>
          <a:ln w="12700">
            <a:solidFill>
              <a:srgbClr val="28EE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828800" cy="1097280"/>
          </a:xfrm>
          <a:prstGeom prst="rect">
            <a:avLst/>
          </a:prstGeom>
          <a:solidFill>
            <a:srgbClr val="142F5A"/>
          </a:solidFill>
          <a:ln w="12700">
            <a:solidFill>
              <a:srgbClr val="142F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05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8E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960120"/>
            <a:ext cx="1828800" cy="1097280"/>
          </a:xfrm>
          <a:prstGeom prst="rect">
            <a:avLst/>
          </a:prstGeom>
          <a:solidFill>
            <a:srgbClr val="142F5A"/>
          </a:solidFill>
          <a:ln w="12700">
            <a:solidFill>
              <a:srgbClr val="142F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05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8E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22+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468880" y="15727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Eloquent Models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960120"/>
            <a:ext cx="1828800" cy="1097280"/>
          </a:xfrm>
          <a:prstGeom prst="rect">
            <a:avLst/>
          </a:prstGeom>
          <a:solidFill>
            <a:srgbClr val="142F5A"/>
          </a:solidFill>
          <a:ln w="12700">
            <a:solidFill>
              <a:srgbClr val="142F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005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8E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572000" y="15727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960120"/>
            <a:ext cx="1828800" cy="1097280"/>
          </a:xfrm>
          <a:prstGeom prst="rect">
            <a:avLst/>
          </a:prstGeom>
          <a:solidFill>
            <a:srgbClr val="142F5A"/>
          </a:solidFill>
          <a:ln w="12700">
            <a:solidFill>
              <a:srgbClr val="142F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1005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8E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675120" y="15727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Tables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" y="2670048"/>
            <a:ext cx="118872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6700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618488" y="2670048"/>
            <a:ext cx="118872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18488" y="26700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871216" y="2670048"/>
            <a:ext cx="118872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71216" y="26700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23944" y="2670048"/>
            <a:ext cx="118872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23944" y="26700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leave_requests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376672" y="2670048"/>
            <a:ext cx="118872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76672" y="26700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leave_balances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629400" y="2670048"/>
            <a:ext cx="118872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26700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882128" y="2670048"/>
            <a:ext cx="118872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82128" y="26700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3172968"/>
            <a:ext cx="118872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1729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618488" y="3172968"/>
            <a:ext cx="118872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18488" y="31729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871216" y="3172968"/>
            <a:ext cx="118872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71216" y="31729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123944" y="3172968"/>
            <a:ext cx="118872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23944" y="31729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376672" y="3172968"/>
            <a:ext cx="118872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76672" y="31729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629400" y="3172968"/>
            <a:ext cx="118872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9400" y="31729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882128" y="3172968"/>
            <a:ext cx="118872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82128" y="31729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indexes for query performance  •  Geolocation fields for attendance  •  SoftDeletes on 22+ models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2F5A"/>
          </a:solidFill>
          <a:ln w="12700">
            <a:solidFill>
              <a:srgbClr val="14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28EEA7"/>
          </a:solidFill>
          <a:ln w="12700">
            <a:solidFill>
              <a:srgbClr val="28EE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Architecture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28016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960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Levels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1371600" cy="4389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3716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965960" y="137160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routes (login, register)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1920240"/>
            <a:ext cx="1371600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9202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965960" y="192024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employee routes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2468880"/>
            <a:ext cx="137160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4688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965960" y="246888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reporting, attendance review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57200" y="3017520"/>
            <a:ext cx="137160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0175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965960" y="301752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access, configuration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36576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API: /api/v1/   •   JWT Bearer token authentication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ApiResponse trait for consistent JSON responses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 pattern — 7 service classes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Request validation — 25+ classes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Observers for automatic record creation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F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8EEA7"/>
          </a:solidFill>
          <a:ln w="12700">
            <a:solidFill>
              <a:srgbClr val="28EE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Best Practices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051560"/>
          </a:xfrm>
          <a:prstGeom prst="rect">
            <a:avLst/>
          </a:prstGeom>
          <a:solidFill>
            <a:srgbClr val="1A3D6E"/>
          </a:solidFill>
          <a:ln w="12700">
            <a:solidFill>
              <a:srgbClr val="2A4E8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61872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0972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88720" y="15087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TTL (60 min default)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846320" y="1005840"/>
            <a:ext cx="4114800" cy="1051560"/>
          </a:xfrm>
          <a:prstGeom prst="rect">
            <a:avLst/>
          </a:prstGeom>
          <a:solidFill>
            <a:srgbClr val="1A3D6E"/>
          </a:solidFill>
          <a:ln w="12700">
            <a:solidFill>
              <a:srgbClr val="2A4E8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61872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0" y="10972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669280" y="15087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login attempts per minute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65760" y="2286000"/>
            <a:ext cx="4114800" cy="1051560"/>
          </a:xfrm>
          <a:prstGeom prst="rect">
            <a:avLst/>
          </a:prstGeom>
          <a:solidFill>
            <a:srgbClr val="1A3D6E"/>
          </a:solidFill>
          <a:ln w="12700">
            <a:solidFill>
              <a:srgbClr val="2A4E8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42032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3774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188720" y="27889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AdminMiddleware, ManagerMiddleware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846320" y="2286000"/>
            <a:ext cx="4114800" cy="1051560"/>
          </a:xfrm>
          <a:prstGeom prst="rect">
            <a:avLst/>
          </a:prstGeom>
          <a:solidFill>
            <a:srgbClr val="1A3D6E"/>
          </a:solidFill>
          <a:ln w="12700">
            <a:solidFill>
              <a:srgbClr val="2A4E8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542032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69280" y="23774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Assignment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669280" y="27889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via $fillable on all models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365760" y="3566160"/>
            <a:ext cx="4114800" cy="1051560"/>
          </a:xfrm>
          <a:prstGeom prst="rect">
            <a:avLst/>
          </a:prstGeom>
          <a:solidFill>
            <a:srgbClr val="1A3D6E"/>
          </a:solidFill>
          <a:ln w="12700">
            <a:solidFill>
              <a:srgbClr val="2A4E80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822192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88720" y="36576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SoftDeletes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188720" y="4069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data recovery on all key tables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4846320" y="3566160"/>
            <a:ext cx="4114800" cy="1051560"/>
          </a:xfrm>
          <a:prstGeom prst="rect">
            <a:avLst/>
          </a:prstGeom>
          <a:solidFill>
            <a:srgbClr val="1A3D6E"/>
          </a:solidFill>
          <a:ln w="12700">
            <a:solidFill>
              <a:srgbClr val="2A4E80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822192"/>
            <a:ext cx="502920" cy="5029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669280" y="36576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5669280" y="4069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interceptor, environment-based config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2F5A"/>
          </a:solidFill>
          <a:ln w="12700">
            <a:solidFill>
              <a:srgbClr val="14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28EEA7"/>
          </a:solidFill>
          <a:ln w="12700">
            <a:solidFill>
              <a:srgbClr val="28EE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Code Quality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583680" y="1097280"/>
            <a:ext cx="2103120" cy="2103120"/>
          </a:xfrm>
          <a:prstGeom prst="rect">
            <a:avLst/>
          </a:prstGeom>
          <a:solidFill>
            <a:srgbClr val="142F5A"/>
          </a:solidFill>
          <a:ln w="12700">
            <a:solidFill>
              <a:srgbClr val="142F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11887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8E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583680" y="25603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5943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Tests: Auth, Attendance, Leave, Payroll, Training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Tests: LeaveService, AttendanceService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actingAsJwt() helper for JWT auth in tests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RefreshDatabase trait for clean test state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style enforcement with Laravel Pint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linting on frontend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2F5A"/>
          </a:solidFill>
          <a:ln w="12700">
            <a:solidFill>
              <a:srgbClr val="14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28EEA7"/>
          </a:solidFill>
          <a:ln w="12700">
            <a:solidFill>
              <a:srgbClr val="28EE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Pages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87552"/>
            <a:ext cx="192024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875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Registration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68880" y="987552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987552"/>
            <a:ext cx="192024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9875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1371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Charts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987552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987552"/>
            <a:ext cx="192024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9875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1371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Check-in/out, Reports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75120" y="987552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75120" y="987552"/>
            <a:ext cx="19202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9875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1371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Salaries, Insurance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313432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313432"/>
            <a:ext cx="192024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3134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2697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Self, Team, Admin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468880" y="2313432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68880" y="2313432"/>
            <a:ext cx="1920240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23134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468880" y="2697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Enrollments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0" y="2313432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2313432"/>
            <a:ext cx="1920240" cy="3474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23134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0" y="2697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Info, Job, Salary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75120" y="2313432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675120" y="2313432"/>
            <a:ext cx="192024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23134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75120" y="2697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Hire, Checklist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3639312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5760" y="3639312"/>
            <a:ext cx="1920240" cy="3474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639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65760" y="4023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Inbox, Sent, Compose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468880" y="3639312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468880" y="3639312"/>
            <a:ext cx="192024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68880" y="3639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468880" y="4023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Info, Warning, Urgent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72000" y="3639312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72000" y="3639312"/>
            <a:ext cx="1920240" cy="34747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0" y="3639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572000" y="4023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by year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675120" y="3639312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675120" y="3639312"/>
            <a:ext cx="192024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75120" y="3639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675120" y="4023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search grid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2F5A"/>
          </a:solidFill>
          <a:ln w="12700">
            <a:solidFill>
              <a:srgbClr val="14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28EEA7"/>
          </a:solidFill>
          <a:ln w="12700">
            <a:solidFill>
              <a:srgbClr val="28EE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1381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515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0" y="1005840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97280" y="1005840"/>
            <a:ext cx="6217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Phases 1–8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57200" y="1581912"/>
            <a:ext cx="8138160" cy="4846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2763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0" y="1581912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097280" y="1581912"/>
            <a:ext cx="6217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 Modules (B2)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57200" y="2157984"/>
            <a:ext cx="81381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03704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98080" y="2157984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097280" y="2157984"/>
            <a:ext cx="6217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Phases F1–F14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457200" y="2734056"/>
            <a:ext cx="8138160" cy="4846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779776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98080" y="2734056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1097280" y="2734056"/>
            <a:ext cx="6217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Suite — 82 tests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457200" y="3310128"/>
            <a:ext cx="81381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355848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98080" y="3310128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1097280" y="3310128"/>
            <a:ext cx="6217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457200" y="3886200"/>
            <a:ext cx="8138160" cy="4846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931920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498080" y="3886200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1097280" y="3886200"/>
            <a:ext cx="6217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Enhancement</a:t>
            </a:r>
            <a:endParaRPr lang="en-US" sz="1350" dirty="0"/>
          </a:p>
        </p:txBody>
      </p:sp>
      <p:sp>
        <p:nvSpPr>
          <p:cNvPr id="29" name="Shape 21"/>
          <p:cNvSpPr/>
          <p:nvPr/>
        </p:nvSpPr>
        <p:spPr>
          <a:xfrm>
            <a:off x="457200" y="4462272"/>
            <a:ext cx="81381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4507992"/>
            <a:ext cx="365760" cy="36576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498080" y="4462272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1097280" y="4462272"/>
            <a:ext cx="6217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Section (merged into Payroll)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2F5A"/>
          </a:solidFill>
          <a:ln w="12700">
            <a:solidFill>
              <a:srgbClr val="14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28EEA7"/>
          </a:solidFill>
          <a:ln w="12700">
            <a:solidFill>
              <a:srgbClr val="28EE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023360" cy="3977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EE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794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app/</a:t>
            </a:r>
            <a:endParaRPr lang="en-US" sz="1000" dirty="0"/>
          </a:p>
          <a:p>
            <a:pPr lvl="1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Http/  (Controllers, Middleware, Requests)</a:t>
            </a:r>
            <a:endParaRPr lang="en-US" sz="1000" dirty="0"/>
          </a:p>
          <a:p>
            <a:pPr lvl="1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Models/  (22+ Eloquent models)</a:t>
            </a:r>
            <a:endParaRPr lang="en-US" sz="1000" dirty="0"/>
          </a:p>
          <a:p>
            <a:pPr lvl="1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Services/  (7 service classes)</a:t>
            </a:r>
            <a:endParaRPr lang="en-US" sz="1000" dirty="0"/>
          </a:p>
          <a:p>
            <a:pPr lvl="1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Observers/  (UserObserver, TaskObserver)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database/</a:t>
            </a:r>
            <a:endParaRPr lang="en-US" sz="1000" dirty="0"/>
          </a:p>
          <a:p>
            <a:pPr lvl="1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migrations/  (23 migrations)</a:t>
            </a:r>
            <a:endParaRPr lang="en-US" sz="1000" dirty="0"/>
          </a:p>
          <a:p>
            <a:pPr lvl="1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seeders/  (17 seeders)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routes/  (api.php, web.php)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tests/  (Feature + Unit)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023360" cy="3977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960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EE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417320"/>
            <a:ext cx="3794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</a:t>
            </a:r>
            <a:endParaRPr lang="en-US" sz="1000" dirty="0"/>
          </a:p>
          <a:p>
            <a:pPr lvl="1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pages/  (12 main sections + sub-pages)</a:t>
            </a:r>
            <a:endParaRPr lang="en-US" sz="1000" dirty="0"/>
          </a:p>
          <a:p>
            <a:pPr lvl="1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components/  (15+ reusable)</a:t>
            </a:r>
            <a:endParaRPr lang="en-US" sz="1000" dirty="0"/>
          </a:p>
          <a:p>
            <a:pPr lvl="1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hooks/  (useAuth, useCourses, useUsers)</a:t>
            </a:r>
            <a:endParaRPr lang="en-US" sz="1000" dirty="0"/>
          </a:p>
          <a:p>
            <a:pPr lvl="1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context/  (AuthContext)</a:t>
            </a:r>
            <a:endParaRPr lang="en-US" sz="1000" dirty="0"/>
          </a:p>
          <a:p>
            <a:pPr lvl="1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services/  (API calls)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public/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package.json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2F5A"/>
          </a:solidFill>
          <a:ln w="12700">
            <a:solidFill>
              <a:srgbClr val="14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28EEA7"/>
          </a:solidFill>
          <a:ln w="12700">
            <a:solidFill>
              <a:srgbClr val="28EE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Nice to Have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87552"/>
            <a:ext cx="475488" cy="475488"/>
          </a:xfrm>
          <a:prstGeom prst="rect">
            <a:avLst/>
          </a:prstGeom>
          <a:solidFill>
            <a:srgbClr val="142F5A"/>
          </a:solidFill>
          <a:ln w="12700">
            <a:solidFill>
              <a:srgbClr val="142F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87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E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98755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ownership validation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98755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/ Gates for fine-grained control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45336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545336"/>
            <a:ext cx="475488" cy="475488"/>
          </a:xfrm>
          <a:prstGeom prst="rect">
            <a:avLst/>
          </a:prstGeom>
          <a:solidFill>
            <a:srgbClr val="142F5A"/>
          </a:solidFill>
          <a:ln w="12700">
            <a:solidFill>
              <a:srgbClr val="142F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545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E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54533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1545336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Messages, Announcements, Holidays coverage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10312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103120"/>
            <a:ext cx="475488" cy="475488"/>
          </a:xfrm>
          <a:prstGeom prst="rect">
            <a:avLst/>
          </a:prstGeom>
          <a:solidFill>
            <a:srgbClr val="142F5A"/>
          </a:solidFill>
          <a:ln w="12700">
            <a:solidFill>
              <a:srgbClr val="142F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03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E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210312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documentation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0" y="210312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 specification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660904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660904"/>
            <a:ext cx="475488" cy="475488"/>
          </a:xfrm>
          <a:prstGeom prst="rect">
            <a:avLst/>
          </a:prstGeom>
          <a:solidFill>
            <a:srgbClr val="142F5A"/>
          </a:solidFill>
          <a:ln w="12700">
            <a:solidFill>
              <a:srgbClr val="142F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6609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E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266090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tests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0" y="2660904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+ React Testing Library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18688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18688"/>
            <a:ext cx="475488" cy="475488"/>
          </a:xfrm>
          <a:prstGeom prst="rect">
            <a:avLst/>
          </a:prstGeom>
          <a:solidFill>
            <a:srgbClr val="142F5A"/>
          </a:solidFill>
          <a:ln w="12700">
            <a:solidFill>
              <a:srgbClr val="142F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218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E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321868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14800" y="321868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build, test, and deploy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776472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776472"/>
            <a:ext cx="475488" cy="475488"/>
          </a:xfrm>
          <a:prstGeom prst="rect">
            <a:avLst/>
          </a:prstGeom>
          <a:solidFill>
            <a:srgbClr val="142F5A"/>
          </a:solidFill>
          <a:ln w="12700">
            <a:solidFill>
              <a:srgbClr val="142F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776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E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51560" y="377647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support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114800" y="377647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Mobile-friendly offline capabilities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334256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334256"/>
            <a:ext cx="475488" cy="475488"/>
          </a:xfrm>
          <a:prstGeom prst="rect">
            <a:avLst/>
          </a:prstGeom>
          <a:solidFill>
            <a:srgbClr val="142F5A"/>
          </a:solidFill>
          <a:ln w="12700">
            <a:solidFill>
              <a:srgbClr val="142F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334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E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51560" y="433425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114800" y="4334256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cookies, secure headers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F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8EEA7"/>
          </a:solidFill>
          <a:ln w="12700">
            <a:solidFill>
              <a:srgbClr val="28EEA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64008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>
            <a:off x="3200400" y="3017520"/>
            <a:ext cx="2743200" cy="54864"/>
          </a:xfrm>
          <a:prstGeom prst="rect">
            <a:avLst/>
          </a:prstGeom>
          <a:solidFill>
            <a:srgbClr val="28EEA7"/>
          </a:solidFill>
          <a:ln w="12700">
            <a:solidFill>
              <a:srgbClr val="28EEA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154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8E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Documentation: See docs/ folder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Docs: https://documenter.getpostman.com/view/33828343/2sAYkLmc1N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Management System</dc:title>
  <dc:subject>PptxGenJS Presentation</dc:subject>
  <dc:creator>HR System</dc:creator>
  <cp:lastModifiedBy>HR System</cp:lastModifiedBy>
  <cp:revision>1</cp:revision>
  <dcterms:created xsi:type="dcterms:W3CDTF">2026-04-16T19:38:02Z</dcterms:created>
  <dcterms:modified xsi:type="dcterms:W3CDTF">2026-04-16T19:38:02Z</dcterms:modified>
</cp:coreProperties>
</file>